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5156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F172A"/>
                </a:solidFill>
              </a:rPr>
              <a:t>Flight Price Prediction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667512" y="1773936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</a:rPr>
              <a:t>Machine Learning Regression Project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85800" y="2331720"/>
            <a:ext cx="649224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Prediksi harga tiket pesawat berdasarkan maskapai, rute, waktu keberangkatan, durasi, kelas, dan sisa hari sebelum keberangkatan.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" y="3547872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3621024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Regression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331720" y="3547872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05966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04872" y="3621024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Streamlit App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0" y="3547872"/>
            <a:ext cx="1691640" cy="347472"/>
          </a:xfrm>
          <a:prstGeom prst="roundRect">
            <a:avLst>
              <a:gd name="adj" fmla="val 21053"/>
            </a:avLst>
          </a:prstGeom>
          <a:solidFill>
            <a:srgbClr val="EA580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87952" y="3621024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Google Colab</a:t>
            </a:r>
            <a:endParaRPr lang="en-US" sz="1050" dirty="0"/>
          </a:p>
        </p:txBody>
      </p:sp>
      <p:pic>
        <p:nvPicPr>
          <p:cNvPr id="11" name="Image 0" descr="/mnt/data/airline_regression_project/assets/actual_vs_predicted.png">    </p:cNvPr>
          <p:cNvPicPr>
            <a:picLocks noChangeAspect="1"/>
          </p:cNvPicPr>
          <p:nvPr/>
        </p:nvPicPr>
        <p:blipFill>
          <a:blip r:embed="rId1"/>
          <a:srcRect l="10938" r="10938" t="0" b="0"/>
          <a:stretch/>
        </p:blipFill>
        <p:spPr>
          <a:xfrm>
            <a:off x="8001000" y="777240"/>
            <a:ext cx="3429000" cy="43891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85800" y="59893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Deliverables: dataset, notebook, source code Streamlit, model, dan slide presentasi.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02920" y="651052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Flight Price Regression | 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Deskripsi Dataset dan Tujuan Task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Dataset Airlines Flights Data digunakan untuk membangun model prediksi harga tiket.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002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563EB"/>
                </a:solidFill>
              </a:rPr>
              <a:t>300.153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31520" y="19933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jumlah baris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834640" y="1600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59669"/>
                </a:solidFill>
              </a:rPr>
              <a:t>12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2834640" y="19933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jumlah kolom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63440" y="1600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A580C"/>
                </a:solidFill>
              </a:rPr>
              <a:t>0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4663440" y="19933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missing value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0" y="1600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price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6492240" y="19933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target regresi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880360"/>
            <a:ext cx="5394960" cy="1920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Tujuan utama: memprediksi harga tiket untuk data penerbangan baru.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Fitur utama: airline, rute, waktu, stops, class, duration, dan days_left.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Output model dipakai pada aplikasi Streamlit agar pengguna bisa memasukkan data baru.</a:t>
            </a:r>
            <a:endParaRPr lang="en-US" sz="1800" dirty="0"/>
          </a:p>
        </p:txBody>
      </p:sp>
      <p:pic>
        <p:nvPicPr>
          <p:cNvPr id="14" name="Image 0" descr="/mnt/data/airline_regression_project/assets/price_distribution.png">    </p:cNvPr>
          <p:cNvPicPr>
            <a:picLocks noChangeAspect="1"/>
          </p:cNvPicPr>
          <p:nvPr/>
        </p:nvPicPr>
        <p:blipFill>
          <a:blip r:embed="rId1"/>
          <a:srcRect l="2025" r="2025" t="0" b="0"/>
          <a:stretch/>
        </p:blipFill>
        <p:spPr>
          <a:xfrm>
            <a:off x="6537960" y="2423160"/>
            <a:ext cx="4983480" cy="32461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02920" y="651052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Flight Price Regression |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EDA: Distribusi Harga dan Pola Pemesanan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Harga tiket memiliki variasi besar sehingga model perlu menangkap pola non-linear.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5" name="Image 0" descr="/mnt/data/airline_regression_project/assets/price_distribution.png">    </p:cNvPr>
          <p:cNvPicPr>
            <a:picLocks noChangeAspect="1"/>
          </p:cNvPicPr>
          <p:nvPr/>
        </p:nvPicPr>
        <p:blipFill>
          <a:blip r:embed="rId1"/>
          <a:srcRect l="521" r="521" t="0" b="0"/>
          <a:stretch/>
        </p:blipFill>
        <p:spPr>
          <a:xfrm>
            <a:off x="685800" y="1417320"/>
            <a:ext cx="5212080" cy="3291840"/>
          </a:xfrm>
          <a:prstGeom prst="rect">
            <a:avLst/>
          </a:prstGeom>
        </p:spPr>
      </p:pic>
      <p:pic>
        <p:nvPicPr>
          <p:cNvPr id="6" name="Image 1" descr="/mnt/data/airline_regression_project/assets/days_left_vs_price.png">    </p:cNvPr>
          <p:cNvPicPr>
            <a:picLocks noChangeAspect="1"/>
          </p:cNvPicPr>
          <p:nvPr/>
        </p:nvPicPr>
        <p:blipFill>
          <a:blip r:embed="rId2"/>
          <a:srcRect l="521" r="521" t="0" b="0"/>
          <a:stretch/>
        </p:blipFill>
        <p:spPr>
          <a:xfrm>
            <a:off x="6309360" y="1417320"/>
            <a:ext cx="5212080" cy="32918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5120640"/>
            <a:ext cx="1005840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</a:rPr>
              <a:t>Sebagian besar harga berada pada rentang rendah hingga menengah.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</a:rPr>
              <a:t>Harga tinggi muncul pada segmen tertentu, terutama kombinasi rute dan kelas.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</a:rPr>
              <a:t>Days left memberi sinyal penting karena harga berubah saat hari keberangkatan semakin dekat.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502920" y="651052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Flight Price Regression |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EDA: Pengaruh Maskapai, Kelas, dan Transit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Fitur kategorikal memberi perbedaan rata-rata harga yang jelas.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5" name="Image 0" descr="/mnt/data/airline_regression_project/assets/avg_price_airline.png">    </p:cNvPr>
          <p:cNvPicPr>
            <a:picLocks noChangeAspect="1"/>
          </p:cNvPicPr>
          <p:nvPr/>
        </p:nvPicPr>
        <p:blipFill>
          <a:blip r:embed="rId1"/>
          <a:srcRect l="12121" r="12121" t="0" b="0"/>
          <a:stretch/>
        </p:blipFill>
        <p:spPr>
          <a:xfrm>
            <a:off x="685800" y="1417320"/>
            <a:ext cx="3657600" cy="3017520"/>
          </a:xfrm>
          <a:prstGeom prst="rect">
            <a:avLst/>
          </a:prstGeom>
        </p:spPr>
      </p:pic>
      <p:pic>
        <p:nvPicPr>
          <p:cNvPr id="6" name="Image 1" descr="/mnt/data/airline_regression_project/assets/avg_price_class.png">    </p:cNvPr>
          <p:cNvPicPr>
            <a:picLocks noChangeAspect="1"/>
          </p:cNvPicPr>
          <p:nvPr/>
        </p:nvPicPr>
        <p:blipFill>
          <a:blip r:embed="rId2"/>
          <a:srcRect l="13636" r="13636" t="0" b="0"/>
          <a:stretch/>
        </p:blipFill>
        <p:spPr>
          <a:xfrm>
            <a:off x="4526280" y="1417320"/>
            <a:ext cx="3291840" cy="3017520"/>
          </a:xfrm>
          <a:prstGeom prst="rect">
            <a:avLst/>
          </a:prstGeom>
        </p:spPr>
      </p:pic>
      <p:pic>
        <p:nvPicPr>
          <p:cNvPr id="7" name="Image 2" descr="/mnt/data/airline_regression_project/assets/avg_price_stops.png">    </p:cNvPr>
          <p:cNvPicPr>
            <a:picLocks noChangeAspect="1"/>
          </p:cNvPicPr>
          <p:nvPr/>
        </p:nvPicPr>
        <p:blipFill>
          <a:blip r:embed="rId3"/>
          <a:srcRect l="13636" r="13636" t="0" b="0"/>
          <a:stretch/>
        </p:blipFill>
        <p:spPr>
          <a:xfrm>
            <a:off x="8001000" y="1417320"/>
            <a:ext cx="3291840" cy="30175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14400" y="4892040"/>
            <a:ext cx="1005840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</a:rPr>
              <a:t>Business class menjadi faktor pembeda harga paling kuat.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</a:rPr>
              <a:t>Maskapai memiliki rata-rata harga berbeda karena segmen layanan berbeda.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</a:rPr>
              <a:t>Jumlah transit ikut memengaruhi pola harga, tetapi pengaruhnya harus dibaca bersama rute dan durasi.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502920" y="651052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Flight Price Regression |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Pre-processing Data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Data disiapkan agar cocok untuk pipeline machine learning dan deployment.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08760"/>
            <a:ext cx="6400800" cy="3566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Kolom target: price.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Kolom index dihapus karena hanya penanda baris.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Kolom flight dihapus karena kardinalitas tinggi dan berisiko membuat model terlalu spesifik pada kode penerbangan.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Fitur kategorikal diproses dengan OneHotEncoder.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Fitur numerik duration dan days_left diproses dengan StandardScaler.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Data dibagi menjadi training set 80% dan testing set 20%.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3524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Pipeline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589520" y="1993392"/>
            <a:ext cx="3291840" cy="384048"/>
          </a:xfrm>
          <a:prstGeom prst="roundRect">
            <a:avLst>
              <a:gd name="adj" fmla="val 14286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26680" y="208483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4155"/>
                </a:solidFill>
              </a:rPr>
              <a:t>Raw CSV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589520" y="2651760"/>
            <a:ext cx="3291840" cy="384048"/>
          </a:xfrm>
          <a:prstGeom prst="roundRect">
            <a:avLst>
              <a:gd name="adj" fmla="val 1428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26680" y="274320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4155"/>
                </a:solidFill>
              </a:rPr>
              <a:t>Drop unused columns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589520" y="3310128"/>
            <a:ext cx="3291840" cy="384048"/>
          </a:xfrm>
          <a:prstGeom prst="roundRect">
            <a:avLst>
              <a:gd name="adj" fmla="val 14286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26680" y="340156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4155"/>
                </a:solidFill>
              </a:rPr>
              <a:t>Encode + Scale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589520" y="3968496"/>
            <a:ext cx="3291840" cy="384048"/>
          </a:xfrm>
          <a:prstGeom prst="roundRect">
            <a:avLst>
              <a:gd name="adj" fmla="val 1428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26680" y="4059936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4155"/>
                </a:solidFill>
              </a:rPr>
              <a:t>Train/Test Split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589520" y="4626864"/>
            <a:ext cx="3291840" cy="384048"/>
          </a:xfrm>
          <a:prstGeom prst="roundRect">
            <a:avLst>
              <a:gd name="adj" fmla="val 14286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26680" y="471830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4155"/>
                </a:solidFill>
              </a:rPr>
              <a:t>Model Training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02920" y="651052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Flight Price Regression |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Setup Eksperimen Modelling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Dua model diuji untuk membandingkan pendekatan linear dan non-linear.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54480"/>
            <a:ext cx="5577840" cy="3108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Baseline: Ridge Regression.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Model non-linear: Decision Tree Regressor.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Evaluasi memakai MAE, RMSE, R², dan MAPE.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Model terbaik dipilih berdasarkan RMSE paling rendah dan R² paling tinggi.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Model terbaik disimpan sebagai file pickle untuk digunakan di Streamlit.</a:t>
            </a:r>
            <a:endParaRPr lang="en-US" sz="1800" dirty="0"/>
          </a:p>
        </p:txBody>
      </p:sp>
      <p:pic>
        <p:nvPicPr>
          <p:cNvPr id="6" name="Image 0" descr="/mnt/data/airline_regression_project/assets/model_rmse.png">    </p:cNvPr>
          <p:cNvPicPr>
            <a:picLocks noChangeAspect="1"/>
          </p:cNvPicPr>
          <p:nvPr/>
        </p:nvPicPr>
        <p:blipFill>
          <a:blip r:embed="rId1"/>
          <a:srcRect l="6503" r="6503" t="0" b="0"/>
          <a:stretch/>
        </p:blipFill>
        <p:spPr>
          <a:xfrm>
            <a:off x="6629400" y="1508760"/>
            <a:ext cx="4663440" cy="3063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720840" y="4846320"/>
            <a:ext cx="448056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Metrik utama: RMSE dipilih karena menunjukkan besar kesalahan prediksi dalam satuan harga.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2920" y="651052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Flight Price Regression |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Hasil Eksperimen Modelling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Decision Tree memberikan performa terbaik pada data uji.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1920240" cy="384048"/>
          </a:xfrm>
          <a:prstGeom prst="rect">
            <a:avLst/>
          </a:prstGeom>
          <a:solidFill>
            <a:srgbClr val="0F17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09928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Model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743200" y="1600200"/>
            <a:ext cx="1051560" cy="384048"/>
          </a:xfrm>
          <a:prstGeom prst="rect">
            <a:avLst/>
          </a:prstGeom>
          <a:solidFill>
            <a:srgbClr val="0F17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88920" y="1709928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MAE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794760" y="1600200"/>
            <a:ext cx="1051560" cy="384048"/>
          </a:xfrm>
          <a:prstGeom prst="rect">
            <a:avLst/>
          </a:prstGeom>
          <a:solidFill>
            <a:srgbClr val="0F17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0" y="1709928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RMSE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846320" y="1600200"/>
            <a:ext cx="914400" cy="384048"/>
          </a:xfrm>
          <a:prstGeom prst="rect">
            <a:avLst/>
          </a:prstGeom>
          <a:solidFill>
            <a:srgbClr val="0F17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709928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R²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760720" y="1600200"/>
            <a:ext cx="1188720" cy="384048"/>
          </a:xfrm>
          <a:prstGeom prst="rect">
            <a:avLst/>
          </a:prstGeom>
          <a:solidFill>
            <a:srgbClr val="0F17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06440" y="1709928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MAPE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1984248"/>
            <a:ext cx="1920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2093976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Decision Tree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2743200" y="1984248"/>
            <a:ext cx="1051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88920" y="2093976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1.433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3794760" y="1984248"/>
            <a:ext cx="1051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0" y="2093976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3.208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4846320" y="1984248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093976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0,9800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5760720" y="1984248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06440" y="2093976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10,139%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822960" y="2368296"/>
            <a:ext cx="1920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2478024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Ridge Regression</a:t>
            </a:r>
            <a:endParaRPr lang="en-US" sz="1220" dirty="0"/>
          </a:p>
        </p:txBody>
      </p:sp>
      <p:sp>
        <p:nvSpPr>
          <p:cNvPr id="27" name="Shape 25"/>
          <p:cNvSpPr/>
          <p:nvPr/>
        </p:nvSpPr>
        <p:spPr>
          <a:xfrm>
            <a:off x="2743200" y="2368296"/>
            <a:ext cx="1051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88920" y="2478024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4.553</a:t>
            </a:r>
            <a:endParaRPr lang="en-US" sz="1220" dirty="0"/>
          </a:p>
        </p:txBody>
      </p:sp>
      <p:sp>
        <p:nvSpPr>
          <p:cNvPr id="29" name="Shape 27"/>
          <p:cNvSpPr/>
          <p:nvPr/>
        </p:nvSpPr>
        <p:spPr>
          <a:xfrm>
            <a:off x="3794760" y="2368296"/>
            <a:ext cx="1051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0" y="2478024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6.762</a:t>
            </a:r>
            <a:endParaRPr lang="en-US" sz="1220" dirty="0"/>
          </a:p>
        </p:txBody>
      </p:sp>
      <p:sp>
        <p:nvSpPr>
          <p:cNvPr id="31" name="Shape 29"/>
          <p:cNvSpPr/>
          <p:nvPr/>
        </p:nvSpPr>
        <p:spPr>
          <a:xfrm>
            <a:off x="4846320" y="2368296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2478024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0,9113</a:t>
            </a:r>
            <a:endParaRPr lang="en-US" sz="1220" dirty="0"/>
          </a:p>
        </p:txBody>
      </p:sp>
      <p:sp>
        <p:nvSpPr>
          <p:cNvPr id="33" name="Shape 31"/>
          <p:cNvSpPr/>
          <p:nvPr/>
        </p:nvSpPr>
        <p:spPr>
          <a:xfrm>
            <a:off x="5760720" y="2368296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06440" y="2478024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46,240%</a:t>
            </a:r>
            <a:endParaRPr lang="en-US" sz="1220" dirty="0"/>
          </a:p>
        </p:txBody>
      </p:sp>
      <p:sp>
        <p:nvSpPr>
          <p:cNvPr id="35" name="Text 33"/>
          <p:cNvSpPr/>
          <p:nvPr/>
        </p:nvSpPr>
        <p:spPr>
          <a:xfrm>
            <a:off x="914400" y="3246120"/>
            <a:ext cx="5943600" cy="1920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</a:rPr>
              <a:t>Decision Tree memiliki error paling rendah.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</a:rPr>
              <a:t>R² sebesar 0,9800 menunjukkan kemampuan model menjelaskan variasi harga secara kuat.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</a:rPr>
              <a:t>Ridge Regression tetap berguna sebagai baseline, tetapi kurang menangkap pola non-linear.</a:t>
            </a:r>
            <a:endParaRPr lang="en-US" sz="1700" dirty="0"/>
          </a:p>
        </p:txBody>
      </p:sp>
      <p:pic>
        <p:nvPicPr>
          <p:cNvPr id="36" name="Image 0" descr="/mnt/data/airline_regression_project/assets/actual_vs_predicted.png">    </p:cNvPr>
          <p:cNvPicPr>
            <a:picLocks noChangeAspect="1"/>
          </p:cNvPicPr>
          <p:nvPr/>
        </p:nvPicPr>
        <p:blipFill>
          <a:blip r:embed="rId1"/>
          <a:srcRect l="1765" r="1765" t="0" b="0"/>
          <a:stretch/>
        </p:blipFill>
        <p:spPr>
          <a:xfrm>
            <a:off x="7498080" y="1463040"/>
            <a:ext cx="3749040" cy="388620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502920" y="651052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Flight Price Regression |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Model Evaluation dan Interpretasi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Evaluasi akhir menunjukkan model cukup akurat untuk estimasi harga tiket.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5" name="Image 0" descr="/mnt/data/airline_regression_project/assets/feature_importance.png">    </p:cNvPr>
          <p:cNvPicPr>
            <a:picLocks noChangeAspect="1"/>
          </p:cNvPicPr>
          <p:nvPr/>
        </p:nvPicPr>
        <p:blipFill>
          <a:blip r:embed="rId1"/>
          <a:srcRect l="9449" r="9449" t="0" b="0"/>
          <a:stretch/>
        </p:blipFill>
        <p:spPr>
          <a:xfrm>
            <a:off x="731520" y="1417320"/>
            <a:ext cx="4983480" cy="384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09360" y="16916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563EB"/>
                </a:solidFill>
              </a:rPr>
              <a:t>1.433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6309360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MAE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412480" y="16916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A580C"/>
                </a:solidFill>
              </a:rPr>
              <a:t>3.208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8412480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RMSE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309360" y="28803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59669"/>
                </a:solidFill>
              </a:rPr>
              <a:t>0,9800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6309360" y="32735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R²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412480" y="28803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10,139%</a:t>
            </a:r>
            <a:endParaRPr lang="en-US" sz="2500" dirty="0"/>
          </a:p>
        </p:txBody>
      </p:sp>
      <p:sp>
        <p:nvSpPr>
          <p:cNvPr id="13" name="Text 10"/>
          <p:cNvSpPr/>
          <p:nvPr/>
        </p:nvSpPr>
        <p:spPr>
          <a:xfrm>
            <a:off x="8412480" y="32735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MAPE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309360" y="4206240"/>
            <a:ext cx="466344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</a:rPr>
              <a:t>Fitur kelas penerbangan, maskapai, durasi, dan days_left menjadi sinyal penting.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</a:rPr>
              <a:t>Model siap dipakai untuk prediksi data baru dengan format input yang sama.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502920" y="651052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Flight Price Regression | 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Deployment Streamlit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Aplikasi menerima input pengguna dan mengeluarkan prediksi harga tiket baru.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5" name="Image 0" descr="/mnt/data/airline_regression_project/assets/streamlit_ui_screenshot.png">    </p:cNvPr>
          <p:cNvPicPr>
            <a:picLocks noChangeAspect="1"/>
          </p:cNvPicPr>
          <p:nvPr/>
        </p:nvPicPr>
        <p:blipFill>
          <a:blip r:embed="rId1"/>
          <a:srcRect l="4637" r="4637" t="0" b="0"/>
          <a:stretch/>
        </p:blipFill>
        <p:spPr>
          <a:xfrm>
            <a:off x="685800" y="1325880"/>
            <a:ext cx="6858000" cy="4251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818120" y="1645920"/>
            <a:ext cx="3474720" cy="2834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</a:rPr>
              <a:t>Input: airline, source city, departure time, stops, arrival time, destination city, class, duration, dan days_left.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</a:rPr>
              <a:t>Output: estimasi harga tiket berdasarkan model terlatih.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</a:rPr>
              <a:t>Model dipanggil melalui file flight_price_model.pkl pada source code Streamlit.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818120" y="49834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Command run: streamlit run app.py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651052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Flight Price Regression | 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Kesimpulan dan Pembagian Tugas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Seluruh komponen task sudah disiapkan untuk regresi dan deployment.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08760"/>
            <a:ext cx="5760720" cy="2468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Model terbaik: Decision Tree Regressor.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Hasil utama: RMSE 3.208 dan R² 0,9800 pada testing set.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Aplikasi Streamlit dapat menerima input data baru dan menampilkan prediksi harga.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Notebook dapat diunggah ke Google Colab untuk memperoleh link pengumpulan.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06640" y="1554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Pembagian Tugas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406640" y="2057400"/>
            <a:ext cx="2057400" cy="384048"/>
          </a:xfrm>
          <a:prstGeom prst="rect">
            <a:avLst/>
          </a:prstGeom>
          <a:solidFill>
            <a:srgbClr val="0F17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52360" y="2167128"/>
            <a:ext cx="1965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</a:rPr>
              <a:t>Nama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9464040" y="2057400"/>
            <a:ext cx="1143000" cy="384048"/>
          </a:xfrm>
          <a:prstGeom prst="rect">
            <a:avLst/>
          </a:prstGeom>
          <a:solidFill>
            <a:srgbClr val="0F17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0" y="2167128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</a:rPr>
              <a:t>Kontribusi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7406640" y="2441448"/>
            <a:ext cx="2057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52360" y="2551176"/>
            <a:ext cx="1965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Nama 1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9464040" y="2441448"/>
            <a:ext cx="1143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0" y="2551176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100%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7406640" y="2825496"/>
            <a:ext cx="2057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52360" y="2935224"/>
            <a:ext cx="1965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Nama 2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9464040" y="2825496"/>
            <a:ext cx="1143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09760" y="2935224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0%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7406640" y="3209544"/>
            <a:ext cx="2057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52360" y="3319272"/>
            <a:ext cx="1965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Nama 3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9464040" y="3209544"/>
            <a:ext cx="1143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09760" y="3319272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0%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7406640" y="3977640"/>
            <a:ext cx="347472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Silakan ganti nama anggota dan persentase kontribusi sesuai kelompok.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" y="651052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Flight Price Regression | 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Academic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Flight Price Prediction using Machine Learning</dc:title>
  <dc:subject>Flight Price Regression Project</dc:subject>
  <dc:creator>Premium Portal</dc:creator>
  <cp:lastModifiedBy>Premium Portal</cp:lastModifiedBy>
  <cp:revision>1</cp:revision>
  <dcterms:created xsi:type="dcterms:W3CDTF">2026-06-19T02:24:15Z</dcterms:created>
  <dcterms:modified xsi:type="dcterms:W3CDTF">2026-06-19T02:24:15Z</dcterms:modified>
</cp:coreProperties>
</file>